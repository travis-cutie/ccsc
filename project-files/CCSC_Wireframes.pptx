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A6200"/>
          </a:solidFill>
          <a:ln w="12700">
            <a:solidFill>
              <a:srgbClr val="8A6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34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 CHA SAN CHEN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94360" y="20848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吃茶三千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2633472"/>
            <a:ext cx="2011680" cy="0"/>
          </a:xfrm>
          <a:prstGeom prst="line">
            <a:avLst/>
          </a:prstGeom>
          <a:noFill/>
          <a:ln w="19050">
            <a:solidFill>
              <a:srgbClr val="8A62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834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Redesign  —  Wireframe Presentation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32004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13 Slides  ·  11 Pages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24128"/>
            <a:ext cx="841248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155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00400" y="11155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飲品菜單   ·   品茶體驗   ·   門市據點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635240" y="1097280"/>
            <a:ext cx="1005840" cy="256032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35240" y="1097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線上點餐 →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760" y="16093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400" kern="0" dirty="0">
                <a:solidFill>
                  <a:srgbClr val="8A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NAVIGATION  —  3 pages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2697480" cy="8961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938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Menu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22199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飲品菜單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24140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categories · Drink grid · Online order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00400" y="1874520"/>
            <a:ext cx="2697480" cy="8961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37560" y="1938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22199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品茶體驗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37560" y="24140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 tasting reservation · Ceremony · Gifting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035040" y="1874520"/>
            <a:ext cx="2697480" cy="8961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72200" y="1938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222199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門市據點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72200" y="24140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map · State dropdown · Store list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65760" y="29077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400" kern="0" dirty="0">
                <a:solidFill>
                  <a:srgbClr val="8A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PAGES  —  7 pages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65760" y="3163824"/>
            <a:ext cx="1115568" cy="47548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163824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Story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572768" y="3163824"/>
            <a:ext cx="1115568" cy="47548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72768" y="3163824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779776" y="3163824"/>
            <a:ext cx="1115568" cy="47548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79776" y="3163824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Catering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986784" y="3163824"/>
            <a:ext cx="1115568" cy="47548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86784" y="3163824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&amp; Media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193792" y="3163824"/>
            <a:ext cx="1115568" cy="47548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93792" y="3163824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400800" y="3163824"/>
            <a:ext cx="1115568" cy="47548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3163824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607808" y="3163824"/>
            <a:ext cx="1115568" cy="47548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07808" y="3163824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65760" y="3749040"/>
            <a:ext cx="841248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8587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Story  ·  Franchise  ·  Catering  ·  News     |     Hiring     |     Contact  ·  Privacy  ·  Terms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8966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1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CHA SAN CHEN  —  Website Wireframes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6858000" y="48966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Overview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4747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10241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400" kern="0" dirty="0">
                <a:solidFill>
                  <a:srgbClr val="8A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飲品菜單  ·  MAIN NAVIGATION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39319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90472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4447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Bar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0352" y="162763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· Menu (active) · Experiences · Locations · Order Online CTA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1911096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86537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Header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204825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Drinks" — subtitle: Handcrafted teas, made to order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64008" cy="64008"/>
          </a:xfrm>
          <a:prstGeom prst="ellipse">
            <a:avLst/>
          </a:prstGeom>
          <a:solidFill>
            <a:srgbClr val="8A6200"/>
          </a:solidFill>
          <a:ln w="12700">
            <a:solidFill>
              <a:srgbClr val="8A62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28600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Tabs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0352" y="246888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Horizontally scrollable · 8 categories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" y="2752344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70662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 Grid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0352" y="288950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2-column grid · Photo + name + ingredients + price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" y="3172968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12724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0352" y="331012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4-column: Brand info · Explore · Company · Support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892040" y="320040"/>
            <a:ext cx="3840480" cy="4480560"/>
          </a:xfrm>
          <a:prstGeom prst="rect">
            <a:avLst/>
          </a:prstGeom>
          <a:solidFill>
            <a:srgbClr val="F2F1EF"/>
          </a:solidFill>
          <a:ln w="6350">
            <a:solidFill>
              <a:srgbClr val="C8C8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20040"/>
            <a:ext cx="3840480" cy="26883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28616" y="372161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</a:t>
            </a:r>
            <a:endParaRPr lang="en-US" sz="550" dirty="0"/>
          </a:p>
        </p:txBody>
      </p:sp>
      <p:sp>
        <p:nvSpPr>
          <p:cNvPr id="23" name="Shape 21"/>
          <p:cNvSpPr/>
          <p:nvPr/>
        </p:nvSpPr>
        <p:spPr>
          <a:xfrm>
            <a:off x="4892040" y="588874"/>
            <a:ext cx="3840480" cy="44805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28616" y="73060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HEADER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4892040" y="1036930"/>
            <a:ext cx="3840480" cy="268834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28616" y="1089050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TABS  ⟶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4892040" y="1305763"/>
            <a:ext cx="3840480" cy="716890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28616" y="1581912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 — DRINK</a:t>
            </a:r>
            <a:endParaRPr lang="en-US" sz="550" dirty="0"/>
          </a:p>
        </p:txBody>
      </p:sp>
      <p:sp>
        <p:nvSpPr>
          <p:cNvPr id="29" name="Shape 27"/>
          <p:cNvSpPr/>
          <p:nvPr/>
        </p:nvSpPr>
        <p:spPr>
          <a:xfrm>
            <a:off x="4892040" y="2022653"/>
            <a:ext cx="3840480" cy="716890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28616" y="2298802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 — DRINK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4892040" y="2739542"/>
            <a:ext cx="3840480" cy="716890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28616" y="3015691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 — DRINK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4892040" y="3456432"/>
            <a:ext cx="3840480" cy="627278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28616" y="3687775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 — DRINK</a:t>
            </a:r>
            <a:endParaRPr lang="en-US" sz="550" dirty="0"/>
          </a:p>
        </p:txBody>
      </p:sp>
      <p:sp>
        <p:nvSpPr>
          <p:cNvPr id="35" name="Shape 33"/>
          <p:cNvSpPr/>
          <p:nvPr/>
        </p:nvSpPr>
        <p:spPr>
          <a:xfrm>
            <a:off x="4892040" y="4083710"/>
            <a:ext cx="3840480" cy="38084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28616" y="4191838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550" dirty="0"/>
          </a:p>
        </p:txBody>
      </p:sp>
      <p:sp>
        <p:nvSpPr>
          <p:cNvPr id="37" name="Shape 35"/>
          <p:cNvSpPr/>
          <p:nvPr/>
        </p:nvSpPr>
        <p:spPr>
          <a:xfrm>
            <a:off x="4892040" y="4464558"/>
            <a:ext cx="3840480" cy="33604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28616" y="4550283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</a:t>
            </a:r>
            <a:endParaRPr lang="en-US" sz="550" dirty="0"/>
          </a:p>
        </p:txBody>
      </p:sp>
      <p:sp>
        <p:nvSpPr>
          <p:cNvPr id="39" name="Shape 3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8966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1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CHA SAN CHEN  —  Website Wireframes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6858000" y="48966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11  —  Menu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4747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10241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400" kern="0" dirty="0">
                <a:solidFill>
                  <a:srgbClr val="8A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品茶體驗  ·  MAIN NAVIGATION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39319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90472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4447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Banner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0352" y="162763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"Beyond the Cup" — dark photo background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1911096"/>
            <a:ext cx="64008" cy="64008"/>
          </a:xfrm>
          <a:prstGeom prst="ellipse">
            <a:avLst/>
          </a:prstGeom>
          <a:solidFill>
            <a:srgbClr val="8A6200"/>
          </a:solidFill>
          <a:ln w="12700">
            <a:solidFill>
              <a:srgbClr val="8A62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86537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 Tasting Reservation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204825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form: Location / Date / Time / Guests / Name / Email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28600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CTA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0352" y="246888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"Reserve My Seat" — cancellation policy note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" y="2752344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70662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Experiences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0352" y="288950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2-card grid: Tea Ceremony · Gifting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" y="3172968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12724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92040" y="320040"/>
            <a:ext cx="3840480" cy="4480560"/>
          </a:xfrm>
          <a:prstGeom prst="rect">
            <a:avLst/>
          </a:prstGeom>
          <a:solidFill>
            <a:srgbClr val="F2F1EF"/>
          </a:solidFill>
          <a:ln w="6350">
            <a:solidFill>
              <a:srgbClr val="C8C8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20040"/>
            <a:ext cx="3840480" cy="26883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28616" y="372161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</a:t>
            </a:r>
            <a:endParaRPr lang="en-US" sz="550" dirty="0"/>
          </a:p>
        </p:txBody>
      </p:sp>
      <p:sp>
        <p:nvSpPr>
          <p:cNvPr id="22" name="Shape 20"/>
          <p:cNvSpPr/>
          <p:nvPr/>
        </p:nvSpPr>
        <p:spPr>
          <a:xfrm>
            <a:off x="4892040" y="588874"/>
            <a:ext cx="3840480" cy="806501"/>
          </a:xfrm>
          <a:prstGeom prst="rect">
            <a:avLst/>
          </a:prstGeom>
          <a:solidFill>
            <a:srgbClr val="C8C8C8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28616" y="909828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 —  Beyond the Cup</a:t>
            </a:r>
            <a:endParaRPr lang="en-US" sz="550" dirty="0"/>
          </a:p>
        </p:txBody>
      </p:sp>
      <p:sp>
        <p:nvSpPr>
          <p:cNvPr id="24" name="Shape 22"/>
          <p:cNvSpPr/>
          <p:nvPr/>
        </p:nvSpPr>
        <p:spPr>
          <a:xfrm>
            <a:off x="4892040" y="1395374"/>
            <a:ext cx="3840480" cy="1456182"/>
          </a:xfrm>
          <a:prstGeom prst="rect">
            <a:avLst/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28616" y="2041169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FORM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4892040" y="2851556"/>
            <a:ext cx="3840480" cy="26883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28616" y="2903677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MY SEAT →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4892040" y="3120390"/>
            <a:ext cx="3840480" cy="224028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28616" y="3150108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note</a:t>
            </a:r>
            <a:endParaRPr lang="en-US" sz="550" dirty="0"/>
          </a:p>
        </p:txBody>
      </p:sp>
      <p:sp>
        <p:nvSpPr>
          <p:cNvPr id="30" name="Shape 28"/>
          <p:cNvSpPr/>
          <p:nvPr/>
        </p:nvSpPr>
        <p:spPr>
          <a:xfrm>
            <a:off x="4892040" y="3344418"/>
            <a:ext cx="3840480" cy="179222"/>
          </a:xfrm>
          <a:prstGeom prst="rect">
            <a:avLst/>
          </a:prstGeom>
          <a:solidFill>
            <a:srgbClr val="F2F1EF"/>
          </a:solidFill>
          <a:ln w="12700">
            <a:solidFill>
              <a:srgbClr val="F2F1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28616" y="3351733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EXPERIENCES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4892040" y="3523640"/>
            <a:ext cx="3840480" cy="515264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28616" y="3698977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 Ceremony  ·  Gifting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4892040" y="4038905"/>
            <a:ext cx="3840480" cy="425653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28616" y="4169435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4892040" y="4464558"/>
            <a:ext cx="3840480" cy="33604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28616" y="4550283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</a:t>
            </a:r>
            <a:endParaRPr lang="en-US" sz="550" dirty="0"/>
          </a:p>
        </p:txBody>
      </p:sp>
      <p:sp>
        <p:nvSpPr>
          <p:cNvPr id="38" name="Shape 3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8966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1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CHA SAN CHEN  —  Website Wireframes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6858000" y="48966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11  —  Experiences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4747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10241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400" kern="0" dirty="0">
                <a:solidFill>
                  <a:srgbClr val="8A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門市據點  ·  MAIN NAVIGATION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39319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90472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4447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Map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0352" y="162763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with pin markers per location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1911096"/>
            <a:ext cx="64008" cy="64008"/>
          </a:xfrm>
          <a:prstGeom prst="ellipse">
            <a:avLst/>
          </a:prstGeom>
          <a:solidFill>
            <a:srgbClr val="8A6200"/>
          </a:solidFill>
          <a:ln w="12700">
            <a:solidFill>
              <a:srgbClr val="8A62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86537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Dropdown Filter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204825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"Filter by State" dropdown · All States + 11 states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28600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List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0352" y="246888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state label · Name · Address · Hours · Tag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" y="2752344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70662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States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0352" y="288950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· NY · TX · IL · WA · OR · NV · GA · PA · MA · UT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" y="3172968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12724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92040" y="320040"/>
            <a:ext cx="3840480" cy="4480560"/>
          </a:xfrm>
          <a:prstGeom prst="rect">
            <a:avLst/>
          </a:prstGeom>
          <a:solidFill>
            <a:srgbClr val="F2F1EF"/>
          </a:solidFill>
          <a:ln w="6350">
            <a:solidFill>
              <a:srgbClr val="C8C8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20040"/>
            <a:ext cx="3840480" cy="26883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28616" y="372161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</a:t>
            </a:r>
            <a:endParaRPr lang="en-US" sz="550" dirty="0"/>
          </a:p>
        </p:txBody>
      </p:sp>
      <p:sp>
        <p:nvSpPr>
          <p:cNvPr id="22" name="Shape 20"/>
          <p:cNvSpPr/>
          <p:nvPr/>
        </p:nvSpPr>
        <p:spPr>
          <a:xfrm>
            <a:off x="4892040" y="588874"/>
            <a:ext cx="3840480" cy="1344168"/>
          </a:xfrm>
          <a:prstGeom prst="rect">
            <a:avLst/>
          </a:prstGeom>
          <a:solidFill>
            <a:srgbClr val="ABABAB"/>
          </a:solidFill>
          <a:ln w="12700">
            <a:solidFill>
              <a:srgbClr val="ABAB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28616" y="1178662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MAP</a:t>
            </a:r>
            <a:endParaRPr lang="en-US" sz="550" dirty="0"/>
          </a:p>
        </p:txBody>
      </p:sp>
      <p:sp>
        <p:nvSpPr>
          <p:cNvPr id="24" name="Shape 22"/>
          <p:cNvSpPr/>
          <p:nvPr/>
        </p:nvSpPr>
        <p:spPr>
          <a:xfrm>
            <a:off x="4892040" y="1933042"/>
            <a:ext cx="3840480" cy="246431"/>
          </a:xfrm>
          <a:prstGeom prst="rect">
            <a:avLst/>
          </a:prstGeom>
          <a:solidFill>
            <a:srgbClr val="F2F1EF"/>
          </a:solidFill>
          <a:ln w="12700">
            <a:solidFill>
              <a:srgbClr val="F2F1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28616" y="1973961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State ▾          13 locations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4892040" y="2179472"/>
            <a:ext cx="3840480" cy="15682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28616" y="217558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4892040" y="2336292"/>
            <a:ext cx="3840480" cy="358445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28616" y="2433218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Angeles — Beverly Hills  ›</a:t>
            </a:r>
            <a:endParaRPr lang="en-US" sz="550" dirty="0"/>
          </a:p>
        </p:txBody>
      </p:sp>
      <p:sp>
        <p:nvSpPr>
          <p:cNvPr id="30" name="Shape 28"/>
          <p:cNvSpPr/>
          <p:nvPr/>
        </p:nvSpPr>
        <p:spPr>
          <a:xfrm>
            <a:off x="4892040" y="2694737"/>
            <a:ext cx="3840480" cy="358445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28616" y="2791663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Francisco — Union Square  ›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4892040" y="3053182"/>
            <a:ext cx="3840480" cy="15682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28616" y="3049295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4892040" y="3210001"/>
            <a:ext cx="3840480" cy="358445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28616" y="3306928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— Flushing  ›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4892040" y="3568446"/>
            <a:ext cx="3840480" cy="15682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28616" y="3564560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</a:t>
            </a:r>
            <a:endParaRPr lang="en-US" sz="550" dirty="0"/>
          </a:p>
        </p:txBody>
      </p:sp>
      <p:sp>
        <p:nvSpPr>
          <p:cNvPr id="38" name="Shape 36"/>
          <p:cNvSpPr/>
          <p:nvPr/>
        </p:nvSpPr>
        <p:spPr>
          <a:xfrm>
            <a:off x="4892040" y="3725266"/>
            <a:ext cx="3840480" cy="358445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28616" y="3822192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— Bellaire  ›</a:t>
            </a:r>
            <a:endParaRPr lang="en-US" sz="550" dirty="0"/>
          </a:p>
        </p:txBody>
      </p:sp>
      <p:sp>
        <p:nvSpPr>
          <p:cNvPr id="40" name="Shape 38"/>
          <p:cNvSpPr/>
          <p:nvPr/>
        </p:nvSpPr>
        <p:spPr>
          <a:xfrm>
            <a:off x="4892040" y="4083710"/>
            <a:ext cx="3840480" cy="38084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28616" y="4191838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550" dirty="0"/>
          </a:p>
        </p:txBody>
      </p:sp>
      <p:sp>
        <p:nvSpPr>
          <p:cNvPr id="42" name="Shape 40"/>
          <p:cNvSpPr/>
          <p:nvPr/>
        </p:nvSpPr>
        <p:spPr>
          <a:xfrm>
            <a:off x="4892040" y="4464558"/>
            <a:ext cx="3840480" cy="33604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4550283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</a:t>
            </a:r>
            <a:endParaRPr lang="en-US" sz="550" dirty="0"/>
          </a:p>
        </p:txBody>
      </p:sp>
      <p:sp>
        <p:nvSpPr>
          <p:cNvPr id="44" name="Shape 4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8966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1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CHA SAN CHEN  —  Website Wireframes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6858000" y="48966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11  —  Locations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4747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Story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10241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400" kern="0" dirty="0">
                <a:solidFill>
                  <a:srgbClr val="8A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品牌故事  ·  FOOTER / EXPLORE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39319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90472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4447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Full-width Hero Photo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0352" y="162763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"Born from a Love of Tea" — dark overlay with eyebrow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1911096"/>
            <a:ext cx="64008" cy="64008"/>
          </a:xfrm>
          <a:prstGeom prst="ellipse">
            <a:avLst/>
          </a:prstGeom>
          <a:solidFill>
            <a:srgbClr val="8A6200"/>
          </a:solidFill>
          <a:ln w="12700">
            <a:solidFill>
              <a:srgbClr val="8A62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86537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Section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204825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2-column photo grid: Taipei Flagship + Tea Farm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28600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Quote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0352" y="246888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Full-width dark band — founder quote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" y="2752344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70662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0352" y="288950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 · 2008 · 2015 · 2024 — key milestones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" y="3172968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12724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92040" y="320040"/>
            <a:ext cx="3840480" cy="4480560"/>
          </a:xfrm>
          <a:prstGeom prst="rect">
            <a:avLst/>
          </a:prstGeom>
          <a:solidFill>
            <a:srgbClr val="F2F1EF"/>
          </a:solidFill>
          <a:ln w="6350">
            <a:solidFill>
              <a:srgbClr val="C8C8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20040"/>
            <a:ext cx="3840480" cy="26883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28616" y="372161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</a:t>
            </a:r>
            <a:endParaRPr lang="en-US" sz="550" dirty="0"/>
          </a:p>
        </p:txBody>
      </p:sp>
      <p:sp>
        <p:nvSpPr>
          <p:cNvPr id="22" name="Shape 20"/>
          <p:cNvSpPr/>
          <p:nvPr/>
        </p:nvSpPr>
        <p:spPr>
          <a:xfrm>
            <a:off x="4892040" y="588874"/>
            <a:ext cx="3840480" cy="1075334"/>
          </a:xfrm>
          <a:prstGeom prst="rect">
            <a:avLst/>
          </a:prstGeom>
          <a:solidFill>
            <a:srgbClr val="B0B0B0"/>
          </a:solidFill>
          <a:ln w="12700">
            <a:solidFill>
              <a:srgbClr val="B0B0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28616" y="1044245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 —  Born from a Love of Tea</a:t>
            </a:r>
            <a:endParaRPr lang="en-US" sz="550" dirty="0"/>
          </a:p>
        </p:txBody>
      </p:sp>
      <p:sp>
        <p:nvSpPr>
          <p:cNvPr id="24" name="Shape 22"/>
          <p:cNvSpPr/>
          <p:nvPr/>
        </p:nvSpPr>
        <p:spPr>
          <a:xfrm>
            <a:off x="4892040" y="1664208"/>
            <a:ext cx="3840480" cy="179222"/>
          </a:xfrm>
          <a:prstGeom prst="rect">
            <a:avLst/>
          </a:prstGeom>
          <a:solidFill>
            <a:srgbClr val="F2F1EF"/>
          </a:solidFill>
          <a:ln w="12700">
            <a:solidFill>
              <a:srgbClr val="F2F1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28616" y="1671523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4892040" y="1843430"/>
            <a:ext cx="3840480" cy="537667"/>
          </a:xfrm>
          <a:prstGeom prst="rect">
            <a:avLst/>
          </a:prstGeom>
          <a:solidFill>
            <a:srgbClr val="ABABAB"/>
          </a:solidFill>
          <a:ln w="12700">
            <a:solidFill>
              <a:srgbClr val="ABAB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28616" y="2029968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 ·  Photo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4892040" y="2381098"/>
            <a:ext cx="3840480" cy="403250"/>
          </a:xfrm>
          <a:prstGeom prst="rect">
            <a:avLst/>
          </a:prstGeom>
          <a:solidFill>
            <a:srgbClr val="252525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28616" y="2500427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Every cup tells a story... "</a:t>
            </a:r>
            <a:endParaRPr lang="en-US" sz="550" dirty="0"/>
          </a:p>
        </p:txBody>
      </p:sp>
      <p:sp>
        <p:nvSpPr>
          <p:cNvPr id="30" name="Shape 28"/>
          <p:cNvSpPr/>
          <p:nvPr/>
        </p:nvSpPr>
        <p:spPr>
          <a:xfrm>
            <a:off x="4892040" y="2784348"/>
            <a:ext cx="3840480" cy="134417"/>
          </a:xfrm>
          <a:prstGeom prst="rect">
            <a:avLst/>
          </a:prstGeom>
          <a:solidFill>
            <a:srgbClr val="F2F1EF"/>
          </a:solidFill>
          <a:ln w="12700">
            <a:solidFill>
              <a:srgbClr val="F2F1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28616" y="2769260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4892040" y="2918765"/>
            <a:ext cx="3840480" cy="291236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28616" y="2982087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 — Founded in Taiwan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4892040" y="3210001"/>
            <a:ext cx="3840480" cy="29123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28616" y="3273323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 — Expanded Across Asia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4892040" y="3501238"/>
            <a:ext cx="3840480" cy="291236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28616" y="3564560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— First US Store</a:t>
            </a:r>
            <a:endParaRPr lang="en-US" sz="550" dirty="0"/>
          </a:p>
        </p:txBody>
      </p:sp>
      <p:sp>
        <p:nvSpPr>
          <p:cNvPr id="38" name="Shape 36"/>
          <p:cNvSpPr/>
          <p:nvPr/>
        </p:nvSpPr>
        <p:spPr>
          <a:xfrm>
            <a:off x="4892040" y="3792474"/>
            <a:ext cx="3840480" cy="29123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28616" y="385579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— 500+ Global Locations</a:t>
            </a:r>
            <a:endParaRPr lang="en-US" sz="550" dirty="0"/>
          </a:p>
        </p:txBody>
      </p:sp>
      <p:sp>
        <p:nvSpPr>
          <p:cNvPr id="40" name="Shape 38"/>
          <p:cNvSpPr/>
          <p:nvPr/>
        </p:nvSpPr>
        <p:spPr>
          <a:xfrm>
            <a:off x="4892040" y="4083710"/>
            <a:ext cx="3840480" cy="38084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28616" y="4191838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550" dirty="0"/>
          </a:p>
        </p:txBody>
      </p:sp>
      <p:sp>
        <p:nvSpPr>
          <p:cNvPr id="42" name="Shape 40"/>
          <p:cNvSpPr/>
          <p:nvPr/>
        </p:nvSpPr>
        <p:spPr>
          <a:xfrm>
            <a:off x="4892040" y="4464558"/>
            <a:ext cx="3840480" cy="33604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4550283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</a:t>
            </a:r>
            <a:endParaRPr lang="en-US" sz="550" dirty="0"/>
          </a:p>
        </p:txBody>
      </p:sp>
      <p:sp>
        <p:nvSpPr>
          <p:cNvPr id="44" name="Shape 4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8966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1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CHA SAN CHEN  —  Website Wireframes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6858000" y="48966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of 11  —  Our Story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4747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Franchise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10241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400" kern="0" dirty="0">
                <a:solidFill>
                  <a:srgbClr val="8A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加盟合作  ·  FOOTER / EXPLORE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39319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90472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4447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+ Apply / Download Deck CTAs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0352" y="162763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"Grow With Us" — overseas licensing intro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1911096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86537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Bar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204825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Locations · 14 Countries · 20+ Years · ITI Award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64008" cy="64008"/>
          </a:xfrm>
          <a:prstGeom prst="ellipse">
            <a:avLst/>
          </a:prstGeom>
          <a:solidFill>
            <a:srgbClr val="8A6200"/>
          </a:solidFill>
          <a:ln w="12700">
            <a:solidFill>
              <a:srgbClr val="8A62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28600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Franchise With Us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0352" y="246888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brand advantages in 3×3 grid (icons + descriptions)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" y="2752344"/>
            <a:ext cx="64008" cy="64008"/>
          </a:xfrm>
          <a:prstGeom prst="ellipse">
            <a:avLst/>
          </a:prstGeom>
          <a:solidFill>
            <a:srgbClr val="8A6200"/>
          </a:solidFill>
          <a:ln w="12700">
            <a:solidFill>
              <a:srgbClr val="8A62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70662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Cases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0352" y="288950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country cards: SG · US · AU · PH · MY · UAE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" y="3172968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12724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Journey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0352" y="331012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numbered steps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3593592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54787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Form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0352" y="373075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Email · Phone · Target Region · Message + CTA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892040" y="320040"/>
            <a:ext cx="3840480" cy="4480560"/>
          </a:xfrm>
          <a:prstGeom prst="rect">
            <a:avLst/>
          </a:prstGeom>
          <a:solidFill>
            <a:srgbClr val="F2F1EF"/>
          </a:solidFill>
          <a:ln w="6350">
            <a:solidFill>
              <a:srgbClr val="C8C8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320040"/>
            <a:ext cx="3840480" cy="26883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28616" y="372161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4892040" y="588874"/>
            <a:ext cx="3840480" cy="761695"/>
          </a:xfrm>
          <a:prstGeom prst="rect">
            <a:avLst/>
          </a:prstGeom>
          <a:solidFill>
            <a:srgbClr val="C8C8C8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28616" y="887425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 —  Grow With Us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4892040" y="1350569"/>
            <a:ext cx="3840480" cy="246431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28616" y="1391488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 ·  14  ·  20+  ·  ITI</a:t>
            </a:r>
            <a:endParaRPr lang="en-US" sz="550" dirty="0"/>
          </a:p>
        </p:txBody>
      </p:sp>
      <p:sp>
        <p:nvSpPr>
          <p:cNvPr id="30" name="Shape 28"/>
          <p:cNvSpPr/>
          <p:nvPr/>
        </p:nvSpPr>
        <p:spPr>
          <a:xfrm>
            <a:off x="4892040" y="1597000"/>
            <a:ext cx="3840480" cy="134417"/>
          </a:xfrm>
          <a:prstGeom prst="rect">
            <a:avLst/>
          </a:prstGeom>
          <a:solidFill>
            <a:srgbClr val="F2F1EF"/>
          </a:solidFill>
          <a:ln w="12700">
            <a:solidFill>
              <a:srgbClr val="F2F1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28616" y="1581912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FRANCHISE WITH US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4892040" y="1731416"/>
            <a:ext cx="3840480" cy="694487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28616" y="1996364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Brand Advantages (3×3 grid)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4892040" y="2425903"/>
            <a:ext cx="3840480" cy="134417"/>
          </a:xfrm>
          <a:prstGeom prst="rect">
            <a:avLst/>
          </a:prstGeom>
          <a:solidFill>
            <a:srgbClr val="F2F1EF"/>
          </a:solidFill>
          <a:ln w="12700">
            <a:solidFill>
              <a:srgbClr val="F2F1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28616" y="241081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CASES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4892040" y="2560320"/>
            <a:ext cx="3840480" cy="492862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28616" y="2724455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· US · AU · PH · MY · UAE</a:t>
            </a:r>
            <a:endParaRPr lang="en-US" sz="550" dirty="0"/>
          </a:p>
        </p:txBody>
      </p:sp>
      <p:sp>
        <p:nvSpPr>
          <p:cNvPr id="38" name="Shape 36"/>
          <p:cNvSpPr/>
          <p:nvPr/>
        </p:nvSpPr>
        <p:spPr>
          <a:xfrm>
            <a:off x="4892040" y="3053182"/>
            <a:ext cx="3840480" cy="112014"/>
          </a:xfrm>
          <a:prstGeom prst="rect">
            <a:avLst/>
          </a:prstGeom>
          <a:solidFill>
            <a:srgbClr val="F2F1EF"/>
          </a:solidFill>
          <a:ln w="12700">
            <a:solidFill>
              <a:srgbClr val="F2F1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28616" y="3026893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JOURNEY</a:t>
            </a:r>
            <a:endParaRPr lang="en-US" sz="550" dirty="0"/>
          </a:p>
        </p:txBody>
      </p:sp>
      <p:sp>
        <p:nvSpPr>
          <p:cNvPr id="40" name="Shape 38"/>
          <p:cNvSpPr/>
          <p:nvPr/>
        </p:nvSpPr>
        <p:spPr>
          <a:xfrm>
            <a:off x="4892040" y="3165196"/>
            <a:ext cx="3840480" cy="380848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28616" y="3273323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01 · 02 · 03 · 04</a:t>
            </a:r>
            <a:endParaRPr lang="en-US" sz="550" dirty="0"/>
          </a:p>
        </p:txBody>
      </p:sp>
      <p:sp>
        <p:nvSpPr>
          <p:cNvPr id="42" name="Shape 40"/>
          <p:cNvSpPr/>
          <p:nvPr/>
        </p:nvSpPr>
        <p:spPr>
          <a:xfrm>
            <a:off x="4892040" y="3546043"/>
            <a:ext cx="3840480" cy="537667"/>
          </a:xfrm>
          <a:prstGeom prst="rect">
            <a:avLst/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3732581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FORM</a:t>
            </a:r>
            <a:endParaRPr lang="en-US" sz="550" dirty="0"/>
          </a:p>
        </p:txBody>
      </p:sp>
      <p:sp>
        <p:nvSpPr>
          <p:cNvPr id="44" name="Shape 42"/>
          <p:cNvSpPr/>
          <p:nvPr/>
        </p:nvSpPr>
        <p:spPr>
          <a:xfrm>
            <a:off x="4892040" y="4083710"/>
            <a:ext cx="3840480" cy="38084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28616" y="4191838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550" dirty="0"/>
          </a:p>
        </p:txBody>
      </p:sp>
      <p:sp>
        <p:nvSpPr>
          <p:cNvPr id="46" name="Shape 44"/>
          <p:cNvSpPr/>
          <p:nvPr/>
        </p:nvSpPr>
        <p:spPr>
          <a:xfrm>
            <a:off x="4892040" y="4464558"/>
            <a:ext cx="3840480" cy="33604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28616" y="4550283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</a:t>
            </a:r>
            <a:endParaRPr lang="en-US" sz="550" dirty="0"/>
          </a:p>
        </p:txBody>
      </p:sp>
      <p:sp>
        <p:nvSpPr>
          <p:cNvPr id="48" name="Shape 4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8966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1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CHA SAN CHEN  —  Website Wireframes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6858000" y="48966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of 11  —  Franchise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4747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10241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400" kern="0" dirty="0">
                <a:solidFill>
                  <a:srgbClr val="8A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餐飲外燴  ·  FOOTER / EXPLORE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39319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90472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4447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+ Inquire Now CTA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0352" y="162763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"Elevate Your Event" — bulk, hosting, and tasting services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1911096"/>
            <a:ext cx="64008" cy="64008"/>
          </a:xfrm>
          <a:prstGeom prst="ellipse">
            <a:avLst/>
          </a:prstGeom>
          <a:solidFill>
            <a:srgbClr val="8A6200"/>
          </a:solidFill>
          <a:ln w="12700">
            <a:solidFill>
              <a:srgbClr val="8A62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86537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Offer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204825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service types: Bulk Order · Store Hosting · Tea Tasting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28600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CCSC Catering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0352" y="246888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· Experience Packages · Exceptional Service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" y="2752344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70662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Gallery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0352" y="288950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3×2 photo grid — corporate and business events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" y="3172968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12724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Weddings &amp; Parties Gallery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0352" y="331012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photo grid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3593592"/>
            <a:ext cx="64008" cy="64008"/>
          </a:xfrm>
          <a:prstGeom prst="ellipse">
            <a:avLst/>
          </a:prstGeom>
          <a:solidFill>
            <a:srgbClr val="8A6200"/>
          </a:solidFill>
          <a:ln w="12700">
            <a:solidFill>
              <a:srgbClr val="8A62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54787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Catering Inquiry Form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0352" y="373075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Email · Event Type · Date · Guest Count · Notes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892040" y="320040"/>
            <a:ext cx="3840480" cy="4480560"/>
          </a:xfrm>
          <a:prstGeom prst="rect">
            <a:avLst/>
          </a:prstGeom>
          <a:solidFill>
            <a:srgbClr val="F2F1EF"/>
          </a:solidFill>
          <a:ln w="6350">
            <a:solidFill>
              <a:srgbClr val="C8C8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320040"/>
            <a:ext cx="3840480" cy="26883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28616" y="372161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4892040" y="588874"/>
            <a:ext cx="3840480" cy="806501"/>
          </a:xfrm>
          <a:prstGeom prst="rect">
            <a:avLst/>
          </a:prstGeom>
          <a:solidFill>
            <a:srgbClr val="C8C8C8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28616" y="909828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 —  Elevate Your Event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4892040" y="1395374"/>
            <a:ext cx="3840480" cy="134417"/>
          </a:xfrm>
          <a:prstGeom prst="rect">
            <a:avLst/>
          </a:prstGeom>
          <a:solidFill>
            <a:srgbClr val="F2F1EF"/>
          </a:solidFill>
          <a:ln w="12700">
            <a:solidFill>
              <a:srgbClr val="F2F1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28616" y="1380287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OFFER</a:t>
            </a:r>
            <a:endParaRPr lang="en-US" sz="550" dirty="0"/>
          </a:p>
        </p:txBody>
      </p:sp>
      <p:sp>
        <p:nvSpPr>
          <p:cNvPr id="30" name="Shape 28"/>
          <p:cNvSpPr/>
          <p:nvPr/>
        </p:nvSpPr>
        <p:spPr>
          <a:xfrm>
            <a:off x="4892040" y="1529791"/>
            <a:ext cx="3840480" cy="380848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28616" y="1637919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Order  ·  Store Hosting  ·  Tea Tasting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4892040" y="1910639"/>
            <a:ext cx="3840480" cy="134417"/>
          </a:xfrm>
          <a:prstGeom prst="rect">
            <a:avLst/>
          </a:prstGeom>
          <a:solidFill>
            <a:srgbClr val="F2F1EF"/>
          </a:solidFill>
          <a:ln w="12700">
            <a:solidFill>
              <a:srgbClr val="F2F1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28616" y="1895551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US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4892040" y="2045056"/>
            <a:ext cx="3840480" cy="380848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28616" y="2153183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Quality  ·  02 Experiences  ·  03 Service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4892040" y="2425903"/>
            <a:ext cx="3840480" cy="134417"/>
          </a:xfrm>
          <a:prstGeom prst="rect">
            <a:avLst/>
          </a:prstGeom>
          <a:solidFill>
            <a:srgbClr val="F2F1EF"/>
          </a:solidFill>
          <a:ln w="12700">
            <a:solidFill>
              <a:srgbClr val="F2F1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28616" y="241081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GALLERY</a:t>
            </a:r>
            <a:endParaRPr lang="en-US" sz="550" dirty="0"/>
          </a:p>
        </p:txBody>
      </p:sp>
      <p:sp>
        <p:nvSpPr>
          <p:cNvPr id="38" name="Shape 36"/>
          <p:cNvSpPr/>
          <p:nvPr/>
        </p:nvSpPr>
        <p:spPr>
          <a:xfrm>
            <a:off x="4892040" y="2560320"/>
            <a:ext cx="3840480" cy="403250"/>
          </a:xfrm>
          <a:prstGeom prst="rect">
            <a:avLst/>
          </a:prstGeom>
          <a:solidFill>
            <a:srgbClr val="ABABAB"/>
          </a:solidFill>
          <a:ln w="12700">
            <a:solidFill>
              <a:srgbClr val="ABABA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28616" y="2679649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 ·  Photo  ·  Photo (×6)</a:t>
            </a:r>
            <a:endParaRPr lang="en-US" sz="550" dirty="0"/>
          </a:p>
        </p:txBody>
      </p:sp>
      <p:sp>
        <p:nvSpPr>
          <p:cNvPr id="40" name="Shape 38"/>
          <p:cNvSpPr/>
          <p:nvPr/>
        </p:nvSpPr>
        <p:spPr>
          <a:xfrm>
            <a:off x="4892040" y="2963570"/>
            <a:ext cx="3840480" cy="134417"/>
          </a:xfrm>
          <a:prstGeom prst="rect">
            <a:avLst/>
          </a:prstGeom>
          <a:solidFill>
            <a:srgbClr val="F2F1EF"/>
          </a:solidFill>
          <a:ln w="12700">
            <a:solidFill>
              <a:srgbClr val="F2F1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28616" y="2948483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WEDDINGS &amp; PARTIES</a:t>
            </a:r>
            <a:endParaRPr lang="en-US" sz="550" dirty="0"/>
          </a:p>
        </p:txBody>
      </p:sp>
      <p:sp>
        <p:nvSpPr>
          <p:cNvPr id="42" name="Shape 40"/>
          <p:cNvSpPr/>
          <p:nvPr/>
        </p:nvSpPr>
        <p:spPr>
          <a:xfrm>
            <a:off x="4892040" y="3097987"/>
            <a:ext cx="3840480" cy="358445"/>
          </a:xfrm>
          <a:prstGeom prst="rect">
            <a:avLst/>
          </a:prstGeom>
          <a:solidFill>
            <a:srgbClr val="B8B8B8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3194914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 ·  Photo  ·  Photo  ·  Photo</a:t>
            </a:r>
            <a:endParaRPr lang="en-US" sz="550" dirty="0"/>
          </a:p>
        </p:txBody>
      </p:sp>
      <p:sp>
        <p:nvSpPr>
          <p:cNvPr id="44" name="Shape 42"/>
          <p:cNvSpPr/>
          <p:nvPr/>
        </p:nvSpPr>
        <p:spPr>
          <a:xfrm>
            <a:off x="4892040" y="3456432"/>
            <a:ext cx="3840480" cy="672084"/>
          </a:xfrm>
          <a:prstGeom prst="rect">
            <a:avLst/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28616" y="3710178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CATERING INQUIRY FORM</a:t>
            </a:r>
            <a:endParaRPr lang="en-US" sz="550" dirty="0"/>
          </a:p>
        </p:txBody>
      </p:sp>
      <p:sp>
        <p:nvSpPr>
          <p:cNvPr id="46" name="Shape 44"/>
          <p:cNvSpPr/>
          <p:nvPr/>
        </p:nvSpPr>
        <p:spPr>
          <a:xfrm>
            <a:off x="4892040" y="4128516"/>
            <a:ext cx="3840480" cy="38084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28616" y="4236644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550" dirty="0"/>
          </a:p>
        </p:txBody>
      </p:sp>
      <p:sp>
        <p:nvSpPr>
          <p:cNvPr id="48" name="Shape 46"/>
          <p:cNvSpPr/>
          <p:nvPr/>
        </p:nvSpPr>
        <p:spPr>
          <a:xfrm>
            <a:off x="4892040" y="4509364"/>
            <a:ext cx="3840480" cy="2912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28616" y="457268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</a:t>
            </a:r>
            <a:endParaRPr lang="en-US" sz="550" dirty="0"/>
          </a:p>
        </p:txBody>
      </p:sp>
      <p:sp>
        <p:nvSpPr>
          <p:cNvPr id="50" name="Shape 4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8966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1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CHA SAN CHEN  —  Website Wireframes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6858000" y="48966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 of 11  —  Catering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4747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News &amp; Media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10241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400" kern="0" dirty="0">
                <a:solidFill>
                  <a:srgbClr val="8A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最新消息  ·  FOOTER / EXPLORE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39319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90472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4447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Header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0352" y="162763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"News &amp; Media" — subtitle: Stories, press coverage, and what's brewing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1911096"/>
            <a:ext cx="64008" cy="64008"/>
          </a:xfrm>
          <a:prstGeom prst="ellipse">
            <a:avLst/>
          </a:prstGeom>
          <a:solidFill>
            <a:srgbClr val="8A6200"/>
          </a:solidFill>
          <a:ln w="12700">
            <a:solidFill>
              <a:srgbClr val="8A62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86537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Tabs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204825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· New Openings · Seasonal Menu · Events · Press · Media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28600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Article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0352" y="246888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Half-width hero photo + tag, title, date, excerpt, Read More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" y="2752344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70662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List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0352" y="288950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Thumbnail + tag + title + date rows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" y="3172968"/>
            <a:ext cx="64008" cy="64008"/>
          </a:xfrm>
          <a:prstGeom prst="ellipse">
            <a:avLst/>
          </a:prstGeom>
          <a:solidFill>
            <a:srgbClr val="8A6200"/>
          </a:solidFill>
          <a:ln w="12700">
            <a:solidFill>
              <a:srgbClr val="8A62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12724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Tab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0352" y="331012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logos · Brand kit downloads · Press coverage · Media inquiry form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3593592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54787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92040" y="320040"/>
            <a:ext cx="3840480" cy="4480560"/>
          </a:xfrm>
          <a:prstGeom prst="rect">
            <a:avLst/>
          </a:prstGeom>
          <a:solidFill>
            <a:srgbClr val="F2F1EF"/>
          </a:solidFill>
          <a:ln w="6350">
            <a:solidFill>
              <a:srgbClr val="C8C8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320040"/>
            <a:ext cx="3840480" cy="26883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28616" y="372161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4892040" y="588874"/>
            <a:ext cx="3840480" cy="44805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28616" y="73060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HEADER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4892040" y="1036930"/>
            <a:ext cx="3840480" cy="246431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28616" y="1077849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· New Openings · Seasonal · Events · Press · Media</a:t>
            </a:r>
            <a:endParaRPr lang="en-US" sz="550" dirty="0"/>
          </a:p>
        </p:txBody>
      </p:sp>
      <p:sp>
        <p:nvSpPr>
          <p:cNvPr id="29" name="Shape 27"/>
          <p:cNvSpPr/>
          <p:nvPr/>
        </p:nvSpPr>
        <p:spPr>
          <a:xfrm>
            <a:off x="4892040" y="1283360"/>
            <a:ext cx="3840480" cy="1254557"/>
          </a:xfrm>
          <a:prstGeom prst="rect">
            <a:avLst/>
          </a:prstGeom>
          <a:solidFill>
            <a:srgbClr val="606060"/>
          </a:solidFill>
          <a:ln w="12700">
            <a:solidFill>
              <a:srgbClr val="6060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28616" y="1828343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ARTICLE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4892040" y="2537917"/>
            <a:ext cx="3840480" cy="44805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28616" y="2679649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  ·  Article row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4892040" y="2985973"/>
            <a:ext cx="3840480" cy="448056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28616" y="3127705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  ·  Article row</a:t>
            </a:r>
            <a:endParaRPr lang="en-US" sz="550" dirty="0"/>
          </a:p>
        </p:txBody>
      </p:sp>
      <p:sp>
        <p:nvSpPr>
          <p:cNvPr id="35" name="Shape 33"/>
          <p:cNvSpPr/>
          <p:nvPr/>
        </p:nvSpPr>
        <p:spPr>
          <a:xfrm>
            <a:off x="4892040" y="3434029"/>
            <a:ext cx="3840480" cy="44805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28616" y="3575761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  ·  Article row</a:t>
            </a:r>
            <a:endParaRPr lang="en-US" sz="550" dirty="0"/>
          </a:p>
        </p:txBody>
      </p:sp>
      <p:sp>
        <p:nvSpPr>
          <p:cNvPr id="37" name="Shape 35"/>
          <p:cNvSpPr/>
          <p:nvPr/>
        </p:nvSpPr>
        <p:spPr>
          <a:xfrm>
            <a:off x="4892040" y="3882085"/>
            <a:ext cx="3840480" cy="582473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28616" y="409102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550" dirty="0"/>
          </a:p>
        </p:txBody>
      </p:sp>
      <p:sp>
        <p:nvSpPr>
          <p:cNvPr id="39" name="Shape 37"/>
          <p:cNvSpPr/>
          <p:nvPr/>
        </p:nvSpPr>
        <p:spPr>
          <a:xfrm>
            <a:off x="4892040" y="4464558"/>
            <a:ext cx="3840480" cy="33604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28616" y="4550283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8966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1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CHA SAN CHEN  —  Website Wireframes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6858000" y="48966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 of 11  —  News &amp; Media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4747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News → Media Tab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10241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400" kern="0" dirty="0">
                <a:solidFill>
                  <a:srgbClr val="8A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TAB INSIDE NEWS PAGE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39319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90472"/>
            <a:ext cx="64008" cy="64008"/>
          </a:xfrm>
          <a:prstGeom prst="ellipse">
            <a:avLst/>
          </a:prstGeom>
          <a:solidFill>
            <a:srgbClr val="8A6200"/>
          </a:solidFill>
          <a:ln w="12700">
            <a:solidFill>
              <a:srgbClr val="8A62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4447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Seen 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0352" y="162763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logos: Eater · NYT · Bon Appétit · Vogue · LA Times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1911096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86537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Press Kit Downloads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204825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Package (SVG/PNG/EPS) · Press Photos · Brand Guidelines PDF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28600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Press Features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0352" y="246888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Thumbnail + publication + headline + Read Article link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" y="2752344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70662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Inquiry Form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0352" y="288950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Publication · Email · Inquiry message + Send CTA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" y="3172968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12724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header tabs remain active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0352" y="331012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"Media" tab highlighted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892040" y="320040"/>
            <a:ext cx="3840480" cy="4480560"/>
          </a:xfrm>
          <a:prstGeom prst="rect">
            <a:avLst/>
          </a:prstGeom>
          <a:solidFill>
            <a:srgbClr val="F2F1EF"/>
          </a:solidFill>
          <a:ln w="6350">
            <a:solidFill>
              <a:srgbClr val="C8C8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20040"/>
            <a:ext cx="3840480" cy="26883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28616" y="372161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</a:t>
            </a:r>
            <a:endParaRPr lang="en-US" sz="550" dirty="0"/>
          </a:p>
        </p:txBody>
      </p:sp>
      <p:sp>
        <p:nvSpPr>
          <p:cNvPr id="23" name="Shape 21"/>
          <p:cNvSpPr/>
          <p:nvPr/>
        </p:nvSpPr>
        <p:spPr>
          <a:xfrm>
            <a:off x="4892040" y="588874"/>
            <a:ext cx="3840480" cy="44805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28616" y="73060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HEADER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4892040" y="1036930"/>
            <a:ext cx="3840480" cy="246431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28616" y="1077849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· Openings · Seasonal · Events · Press  [ MEDIA ]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4892040" y="1283360"/>
            <a:ext cx="3840480" cy="134417"/>
          </a:xfrm>
          <a:prstGeom prst="rect">
            <a:avLst/>
          </a:prstGeom>
          <a:solidFill>
            <a:srgbClr val="F2F1EF"/>
          </a:solidFill>
          <a:ln w="12700">
            <a:solidFill>
              <a:srgbClr val="F2F1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28616" y="1268273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SEEN IN</a:t>
            </a:r>
            <a:endParaRPr lang="en-US" sz="550" dirty="0"/>
          </a:p>
        </p:txBody>
      </p:sp>
      <p:sp>
        <p:nvSpPr>
          <p:cNvPr id="29" name="Shape 27"/>
          <p:cNvSpPr/>
          <p:nvPr/>
        </p:nvSpPr>
        <p:spPr>
          <a:xfrm>
            <a:off x="4892040" y="1417777"/>
            <a:ext cx="3840480" cy="470459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28616" y="1570711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Eater  ·  NYT  ·  Bon App.  ·  Vogue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4892040" y="1888236"/>
            <a:ext cx="3840480" cy="134417"/>
          </a:xfrm>
          <a:prstGeom prst="rect">
            <a:avLst/>
          </a:prstGeom>
          <a:solidFill>
            <a:srgbClr val="F2F1EF"/>
          </a:solidFill>
          <a:ln w="12700">
            <a:solidFill>
              <a:srgbClr val="F2F1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28616" y="1873148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PRESS KIT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4892040" y="2022653"/>
            <a:ext cx="3840480" cy="537667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28616" y="2209190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Package  ·  Press Photos  ·  Brand Guidelines</a:t>
            </a:r>
            <a:endParaRPr lang="en-US" sz="550" dirty="0"/>
          </a:p>
        </p:txBody>
      </p:sp>
      <p:sp>
        <p:nvSpPr>
          <p:cNvPr id="35" name="Shape 33"/>
          <p:cNvSpPr/>
          <p:nvPr/>
        </p:nvSpPr>
        <p:spPr>
          <a:xfrm>
            <a:off x="4892040" y="2560320"/>
            <a:ext cx="3840480" cy="134417"/>
          </a:xfrm>
          <a:prstGeom prst="rect">
            <a:avLst/>
          </a:prstGeom>
          <a:solidFill>
            <a:srgbClr val="F2F1EF"/>
          </a:solidFill>
          <a:ln w="12700">
            <a:solidFill>
              <a:srgbClr val="F2F1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28616" y="2545232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COVERAGE</a:t>
            </a:r>
            <a:endParaRPr lang="en-US" sz="550" dirty="0"/>
          </a:p>
        </p:txBody>
      </p:sp>
      <p:sp>
        <p:nvSpPr>
          <p:cNvPr id="37" name="Shape 35"/>
          <p:cNvSpPr/>
          <p:nvPr/>
        </p:nvSpPr>
        <p:spPr>
          <a:xfrm>
            <a:off x="4892040" y="2694737"/>
            <a:ext cx="3840480" cy="336042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28616" y="2780462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item row</a:t>
            </a:r>
            <a:endParaRPr lang="en-US" sz="550" dirty="0"/>
          </a:p>
        </p:txBody>
      </p:sp>
      <p:sp>
        <p:nvSpPr>
          <p:cNvPr id="39" name="Shape 37"/>
          <p:cNvSpPr/>
          <p:nvPr/>
        </p:nvSpPr>
        <p:spPr>
          <a:xfrm>
            <a:off x="4892040" y="3030779"/>
            <a:ext cx="3840480" cy="336042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28616" y="3116504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item row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4892040" y="3366821"/>
            <a:ext cx="3840480" cy="828904"/>
          </a:xfrm>
          <a:prstGeom prst="rect">
            <a:avLst/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28616" y="3698977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INQUIRY FORM</a:t>
            </a:r>
            <a:endParaRPr lang="en-US" sz="550" dirty="0"/>
          </a:p>
        </p:txBody>
      </p:sp>
      <p:sp>
        <p:nvSpPr>
          <p:cNvPr id="43" name="Shape 41"/>
          <p:cNvSpPr/>
          <p:nvPr/>
        </p:nvSpPr>
        <p:spPr>
          <a:xfrm>
            <a:off x="4892040" y="4195724"/>
            <a:ext cx="3840480" cy="38084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28616" y="4303852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550" dirty="0"/>
          </a:p>
        </p:txBody>
      </p:sp>
      <p:sp>
        <p:nvSpPr>
          <p:cNvPr id="45" name="Shape 43"/>
          <p:cNvSpPr/>
          <p:nvPr/>
        </p:nvSpPr>
        <p:spPr>
          <a:xfrm>
            <a:off x="4892040" y="4576572"/>
            <a:ext cx="3840480" cy="22402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28616" y="4606290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</a:t>
            </a:r>
            <a:endParaRPr lang="en-US" sz="550" dirty="0"/>
          </a:p>
        </p:txBody>
      </p:sp>
      <p:sp>
        <p:nvSpPr>
          <p:cNvPr id="47" name="Shape 4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8966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1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CHA SAN CHEN  —  Website Wireframes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6858000" y="48966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 / 11  —  News / Media Tab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4747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10241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400" kern="0" dirty="0">
                <a:solidFill>
                  <a:srgbClr val="8A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聯絡我們  ·  FOOTER / SUPPORT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39319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90472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4447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Header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0352" y="162763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"Get in Touch" — subtitle: We'd love to hear from you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1911096"/>
            <a:ext cx="64008" cy="64008"/>
          </a:xfrm>
          <a:prstGeom prst="ellipse">
            <a:avLst/>
          </a:prstGeom>
          <a:solidFill>
            <a:srgbClr val="8A6200"/>
          </a:solidFill>
          <a:ln w="12700">
            <a:solidFill>
              <a:srgbClr val="8A62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86537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Two-Column Layout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204825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contact info · Right: message form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28600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Info (Left)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0352" y="246888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Phone · US HQ Address · Social icons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" y="2752344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70662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Message (Right)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0352" y="288950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Email · Subject dropdown · Message textarea · Send CTA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" y="3172968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12724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92040" y="320040"/>
            <a:ext cx="3840480" cy="4480560"/>
          </a:xfrm>
          <a:prstGeom prst="rect">
            <a:avLst/>
          </a:prstGeom>
          <a:solidFill>
            <a:srgbClr val="F2F1EF"/>
          </a:solidFill>
          <a:ln w="6350">
            <a:solidFill>
              <a:srgbClr val="C8C8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20040"/>
            <a:ext cx="3840480" cy="26883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28616" y="372161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</a:t>
            </a:r>
            <a:endParaRPr lang="en-US" sz="550" dirty="0"/>
          </a:p>
        </p:txBody>
      </p:sp>
      <p:sp>
        <p:nvSpPr>
          <p:cNvPr id="22" name="Shape 20"/>
          <p:cNvSpPr/>
          <p:nvPr/>
        </p:nvSpPr>
        <p:spPr>
          <a:xfrm>
            <a:off x="4892040" y="588874"/>
            <a:ext cx="3840480" cy="537667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28616" y="775411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HEADER</a:t>
            </a:r>
            <a:endParaRPr lang="en-US" sz="550" dirty="0"/>
          </a:p>
        </p:txBody>
      </p:sp>
      <p:sp>
        <p:nvSpPr>
          <p:cNvPr id="24" name="Shape 22"/>
          <p:cNvSpPr/>
          <p:nvPr/>
        </p:nvSpPr>
        <p:spPr>
          <a:xfrm>
            <a:off x="4892040" y="1126541"/>
            <a:ext cx="3840480" cy="134417"/>
          </a:xfrm>
          <a:prstGeom prst="rect">
            <a:avLst/>
          </a:prstGeom>
          <a:solidFill>
            <a:srgbClr val="F2F1EF"/>
          </a:solidFill>
          <a:ln w="12700">
            <a:solidFill>
              <a:srgbClr val="F2F1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28616" y="1111453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INFO  ·  SEND A MESSAGE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4892040" y="1260958"/>
            <a:ext cx="3840480" cy="380848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28616" y="1369085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4892040" y="1641805"/>
            <a:ext cx="3840480" cy="380848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28616" y="1749933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550" dirty="0"/>
          </a:p>
        </p:txBody>
      </p:sp>
      <p:sp>
        <p:nvSpPr>
          <p:cNvPr id="30" name="Shape 28"/>
          <p:cNvSpPr/>
          <p:nvPr/>
        </p:nvSpPr>
        <p:spPr>
          <a:xfrm>
            <a:off x="4892040" y="2022653"/>
            <a:ext cx="3840480" cy="380848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28616" y="2130781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Headquarters address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4892040" y="2403500"/>
            <a:ext cx="3840480" cy="380848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28616" y="2511628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icons (IG · FB · TikTok)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4892040" y="2784348"/>
            <a:ext cx="3840480" cy="112014"/>
          </a:xfrm>
          <a:prstGeom prst="rect">
            <a:avLst/>
          </a:prstGeom>
          <a:solidFill>
            <a:srgbClr val="F2F1EF"/>
          </a:solidFill>
          <a:ln w="12700">
            <a:solidFill>
              <a:srgbClr val="F2F1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2896362"/>
            <a:ext cx="3840480" cy="1142543"/>
          </a:xfrm>
          <a:prstGeom prst="rect">
            <a:avLst/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28616" y="3385337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FORM  (right column)</a:t>
            </a:r>
            <a:endParaRPr lang="en-US" sz="550" dirty="0"/>
          </a:p>
        </p:txBody>
      </p:sp>
      <p:sp>
        <p:nvSpPr>
          <p:cNvPr id="37" name="Shape 35"/>
          <p:cNvSpPr/>
          <p:nvPr/>
        </p:nvSpPr>
        <p:spPr>
          <a:xfrm>
            <a:off x="4892040" y="4038905"/>
            <a:ext cx="3840480" cy="425653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28616" y="4169435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550" dirty="0"/>
          </a:p>
        </p:txBody>
      </p:sp>
      <p:sp>
        <p:nvSpPr>
          <p:cNvPr id="39" name="Shape 37"/>
          <p:cNvSpPr/>
          <p:nvPr/>
        </p:nvSpPr>
        <p:spPr>
          <a:xfrm>
            <a:off x="4892040" y="4464558"/>
            <a:ext cx="3840480" cy="33604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28616" y="4550283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8966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1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CHA SAN CHEN  —  Website Wireframes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6858000" y="48966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8 of 11  —  Contact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4747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10241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400" kern="0" dirty="0">
                <a:solidFill>
                  <a:srgbClr val="8A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 ·  FOOTER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39319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90472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4447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Banner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0352" y="162763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"Join the Team" — passion for tea tagline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1911096"/>
            <a:ext cx="64008" cy="64008"/>
          </a:xfrm>
          <a:prstGeom prst="ellipse">
            <a:avLst/>
          </a:prstGeom>
          <a:solidFill>
            <a:srgbClr val="8A6200"/>
          </a:solidFill>
          <a:ln w="12700">
            <a:solidFill>
              <a:srgbClr val="8A62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86537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Chips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204825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Roles · Store Operations · Corporate · Full-time · Part-time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28600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Operations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0352" y="246888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 Master / Barista · Store Supervisor · Shift Lead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" y="2752344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70662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0352" y="288950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Marketing Manager · Franchise Development · Digital Designer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" y="3172968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12724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CTA per row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0352" y="331012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type tag + Apply → link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3593592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54787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92040" y="320040"/>
            <a:ext cx="3840480" cy="4480560"/>
          </a:xfrm>
          <a:prstGeom prst="rect">
            <a:avLst/>
          </a:prstGeom>
          <a:solidFill>
            <a:srgbClr val="F2F1EF"/>
          </a:solidFill>
          <a:ln w="6350">
            <a:solidFill>
              <a:srgbClr val="C8C8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320040"/>
            <a:ext cx="3840480" cy="26883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28616" y="372161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4892040" y="588874"/>
            <a:ext cx="3840480" cy="851306"/>
          </a:xfrm>
          <a:prstGeom prst="rect">
            <a:avLst/>
          </a:prstGeom>
          <a:solidFill>
            <a:srgbClr val="C8C8C8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28616" y="932231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 —  Join the Team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4892040" y="1440180"/>
            <a:ext cx="3840480" cy="201625"/>
          </a:xfrm>
          <a:prstGeom prst="rect">
            <a:avLst/>
          </a:prstGeom>
          <a:solidFill>
            <a:srgbClr val="F2F1EF"/>
          </a:solidFill>
          <a:ln w="12700">
            <a:solidFill>
              <a:srgbClr val="F2F1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28616" y="1458697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Roles · Store Ops · Corporate · Full-time · Part-time</a:t>
            </a:r>
            <a:endParaRPr lang="en-US" sz="550" dirty="0"/>
          </a:p>
        </p:txBody>
      </p:sp>
      <p:sp>
        <p:nvSpPr>
          <p:cNvPr id="29" name="Shape 27"/>
          <p:cNvSpPr/>
          <p:nvPr/>
        </p:nvSpPr>
        <p:spPr>
          <a:xfrm>
            <a:off x="4892040" y="1641805"/>
            <a:ext cx="3840480" cy="156820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28616" y="1637919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OPERATIONS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4892040" y="1798625"/>
            <a:ext cx="3840480" cy="358445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28616" y="1895551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 Master / Barista  ·  Apply →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4892040" y="2157070"/>
            <a:ext cx="3840480" cy="358445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28616" y="225399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Supervisor  ·  Apply →</a:t>
            </a:r>
            <a:endParaRPr lang="en-US" sz="550" dirty="0"/>
          </a:p>
        </p:txBody>
      </p:sp>
      <p:sp>
        <p:nvSpPr>
          <p:cNvPr id="35" name="Shape 33"/>
          <p:cNvSpPr/>
          <p:nvPr/>
        </p:nvSpPr>
        <p:spPr>
          <a:xfrm>
            <a:off x="4892040" y="2515514"/>
            <a:ext cx="3840480" cy="358445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28616" y="2612441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Lead  ·  Apply →</a:t>
            </a:r>
            <a:endParaRPr lang="en-US" sz="550" dirty="0"/>
          </a:p>
        </p:txBody>
      </p:sp>
      <p:sp>
        <p:nvSpPr>
          <p:cNvPr id="37" name="Shape 35"/>
          <p:cNvSpPr/>
          <p:nvPr/>
        </p:nvSpPr>
        <p:spPr>
          <a:xfrm>
            <a:off x="4892040" y="2873959"/>
            <a:ext cx="3840480" cy="156820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28616" y="2870073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550" dirty="0"/>
          </a:p>
        </p:txBody>
      </p:sp>
      <p:sp>
        <p:nvSpPr>
          <p:cNvPr id="39" name="Shape 37"/>
          <p:cNvSpPr/>
          <p:nvPr/>
        </p:nvSpPr>
        <p:spPr>
          <a:xfrm>
            <a:off x="4892040" y="3030779"/>
            <a:ext cx="3840480" cy="358445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28616" y="3127705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Marketing Manager  ·  Apply →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4892040" y="3389224"/>
            <a:ext cx="3840480" cy="358445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28616" y="3486150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Development  ·  Apply →</a:t>
            </a:r>
            <a:endParaRPr lang="en-US" sz="550" dirty="0"/>
          </a:p>
        </p:txBody>
      </p:sp>
      <p:sp>
        <p:nvSpPr>
          <p:cNvPr id="43" name="Shape 41"/>
          <p:cNvSpPr/>
          <p:nvPr/>
        </p:nvSpPr>
        <p:spPr>
          <a:xfrm>
            <a:off x="4892040" y="3747668"/>
            <a:ext cx="3840480" cy="358445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28616" y="3844595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Designer  ·  Apply →</a:t>
            </a:r>
            <a:endParaRPr lang="en-US" sz="550" dirty="0"/>
          </a:p>
        </p:txBody>
      </p:sp>
      <p:sp>
        <p:nvSpPr>
          <p:cNvPr id="45" name="Shape 43"/>
          <p:cNvSpPr/>
          <p:nvPr/>
        </p:nvSpPr>
        <p:spPr>
          <a:xfrm>
            <a:off x="4892040" y="4106113"/>
            <a:ext cx="3840480" cy="40325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28616" y="4225442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550" dirty="0"/>
          </a:p>
        </p:txBody>
      </p:sp>
      <p:sp>
        <p:nvSpPr>
          <p:cNvPr id="47" name="Shape 45"/>
          <p:cNvSpPr/>
          <p:nvPr/>
        </p:nvSpPr>
        <p:spPr>
          <a:xfrm>
            <a:off x="4892040" y="4509364"/>
            <a:ext cx="3840480" cy="2912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28616" y="457268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</a:t>
            </a:r>
            <a:endParaRPr lang="en-US" sz="550" dirty="0"/>
          </a:p>
        </p:txBody>
      </p:sp>
      <p:sp>
        <p:nvSpPr>
          <p:cNvPr id="49" name="Shape 4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8966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1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CHA SAN CHEN  —  Website Wireframes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6858000" y="48966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9 of 11  —  Hiring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4747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Policy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10241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400" kern="0" dirty="0">
                <a:solidFill>
                  <a:srgbClr val="8A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 ·  FOOTER / SUPPORT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39319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90472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4447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Header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0352" y="162763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"Privacy Policy" — Last updated: June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1911096"/>
            <a:ext cx="64008" cy="64008"/>
          </a:xfrm>
          <a:prstGeom prst="ellipse">
            <a:avLst/>
          </a:prstGeom>
          <a:solidFill>
            <a:srgbClr val="8A6200"/>
          </a:solidFill>
          <a:ln w="12700">
            <a:solidFill>
              <a:srgbClr val="8A62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86537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204825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sections listed with anchor links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28600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Information We Collect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587752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54203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How We Use Your Information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843784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79806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Your Rights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099816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05409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4–7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0352" y="323697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Sharing · Cookies · Retention · Contact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3520440"/>
            <a:ext cx="64008" cy="6400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4747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92040" y="320040"/>
            <a:ext cx="3840480" cy="4480560"/>
          </a:xfrm>
          <a:prstGeom prst="rect">
            <a:avLst/>
          </a:prstGeom>
          <a:solidFill>
            <a:srgbClr val="F2F1EF"/>
          </a:solidFill>
          <a:ln w="6350">
            <a:solidFill>
              <a:srgbClr val="C8C8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320040"/>
            <a:ext cx="3840480" cy="26883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28616" y="372161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4892040" y="588874"/>
            <a:ext cx="3840480" cy="492862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28616" y="753008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HEADER — Privacy Policy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4892040" y="1081735"/>
            <a:ext cx="3840480" cy="649681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28616" y="1324280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550" dirty="0"/>
          </a:p>
        </p:txBody>
      </p:sp>
      <p:sp>
        <p:nvSpPr>
          <p:cNvPr id="29" name="Shape 27"/>
          <p:cNvSpPr/>
          <p:nvPr/>
        </p:nvSpPr>
        <p:spPr>
          <a:xfrm>
            <a:off x="4892040" y="1731416"/>
            <a:ext cx="3840480" cy="112014"/>
          </a:xfrm>
          <a:prstGeom prst="rect">
            <a:avLst/>
          </a:prstGeom>
          <a:solidFill>
            <a:srgbClr val="F2F1EF"/>
          </a:solidFill>
          <a:ln w="12700">
            <a:solidFill>
              <a:srgbClr val="F2F1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28616" y="1705127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Information We Collect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4892040" y="1843430"/>
            <a:ext cx="3840480" cy="358445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28616" y="1940357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4892040" y="2201875"/>
            <a:ext cx="3840480" cy="112014"/>
          </a:xfrm>
          <a:prstGeom prst="rect">
            <a:avLst/>
          </a:prstGeom>
          <a:solidFill>
            <a:srgbClr val="F2F1EF"/>
          </a:solidFill>
          <a:ln w="12700">
            <a:solidFill>
              <a:srgbClr val="F2F1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28616" y="217558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How We Use Your Information</a:t>
            </a:r>
            <a:endParaRPr lang="en-US" sz="550" dirty="0"/>
          </a:p>
        </p:txBody>
      </p:sp>
      <p:sp>
        <p:nvSpPr>
          <p:cNvPr id="35" name="Shape 33"/>
          <p:cNvSpPr/>
          <p:nvPr/>
        </p:nvSpPr>
        <p:spPr>
          <a:xfrm>
            <a:off x="4892040" y="2313889"/>
            <a:ext cx="3840480" cy="358445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28616" y="241081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550" dirty="0"/>
          </a:p>
        </p:txBody>
      </p:sp>
      <p:sp>
        <p:nvSpPr>
          <p:cNvPr id="37" name="Shape 35"/>
          <p:cNvSpPr/>
          <p:nvPr/>
        </p:nvSpPr>
        <p:spPr>
          <a:xfrm>
            <a:off x="4892040" y="2672334"/>
            <a:ext cx="3840480" cy="112014"/>
          </a:xfrm>
          <a:prstGeom prst="rect">
            <a:avLst/>
          </a:prstGeom>
          <a:solidFill>
            <a:srgbClr val="F2F1EF"/>
          </a:solidFill>
          <a:ln w="12700">
            <a:solidFill>
              <a:srgbClr val="F2F1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28616" y="2646045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Your Rights</a:t>
            </a:r>
            <a:endParaRPr lang="en-US" sz="550" dirty="0"/>
          </a:p>
        </p:txBody>
      </p:sp>
      <p:sp>
        <p:nvSpPr>
          <p:cNvPr id="39" name="Shape 37"/>
          <p:cNvSpPr/>
          <p:nvPr/>
        </p:nvSpPr>
        <p:spPr>
          <a:xfrm>
            <a:off x="4892040" y="2784348"/>
            <a:ext cx="3840480" cy="358445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28616" y="2881274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4892040" y="3142793"/>
            <a:ext cx="3840480" cy="112014"/>
          </a:xfrm>
          <a:prstGeom prst="rect">
            <a:avLst/>
          </a:prstGeom>
          <a:solidFill>
            <a:srgbClr val="F2F1EF"/>
          </a:solidFill>
          <a:ln w="12700">
            <a:solidFill>
              <a:srgbClr val="F2F1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28616" y="3116504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 Sharing</a:t>
            </a:r>
            <a:endParaRPr lang="en-US" sz="550" dirty="0"/>
          </a:p>
        </p:txBody>
      </p:sp>
      <p:sp>
        <p:nvSpPr>
          <p:cNvPr id="43" name="Shape 41"/>
          <p:cNvSpPr/>
          <p:nvPr/>
        </p:nvSpPr>
        <p:spPr>
          <a:xfrm>
            <a:off x="4892040" y="3254807"/>
            <a:ext cx="3840480" cy="291236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28616" y="3318129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550" dirty="0"/>
          </a:p>
        </p:txBody>
      </p:sp>
      <p:sp>
        <p:nvSpPr>
          <p:cNvPr id="45" name="Shape 43"/>
          <p:cNvSpPr/>
          <p:nvPr/>
        </p:nvSpPr>
        <p:spPr>
          <a:xfrm>
            <a:off x="4892040" y="3546043"/>
            <a:ext cx="3840480" cy="112014"/>
          </a:xfrm>
          <a:prstGeom prst="rect">
            <a:avLst/>
          </a:prstGeom>
          <a:solidFill>
            <a:srgbClr val="F2F1EF"/>
          </a:solidFill>
          <a:ln w="12700">
            <a:solidFill>
              <a:srgbClr val="F2F1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28616" y="3519754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– 7. Cookies · Retention · Contact</a:t>
            </a:r>
            <a:endParaRPr lang="en-US" sz="550" dirty="0"/>
          </a:p>
        </p:txBody>
      </p:sp>
      <p:sp>
        <p:nvSpPr>
          <p:cNvPr id="47" name="Shape 45"/>
          <p:cNvSpPr/>
          <p:nvPr/>
        </p:nvSpPr>
        <p:spPr>
          <a:xfrm>
            <a:off x="4892040" y="3658057"/>
            <a:ext cx="3840480" cy="29123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28616" y="3721379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550" dirty="0"/>
          </a:p>
        </p:txBody>
      </p:sp>
      <p:sp>
        <p:nvSpPr>
          <p:cNvPr id="49" name="Shape 47"/>
          <p:cNvSpPr/>
          <p:nvPr/>
        </p:nvSpPr>
        <p:spPr>
          <a:xfrm>
            <a:off x="4892040" y="3949294"/>
            <a:ext cx="3840480" cy="134417"/>
          </a:xfrm>
          <a:prstGeom prst="rect">
            <a:avLst/>
          </a:prstGeom>
          <a:solidFill>
            <a:srgbClr val="F2F1EF"/>
          </a:solidFill>
          <a:ln w="12700">
            <a:solidFill>
              <a:srgbClr val="F2F1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393420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privacy@chichasanchen.com</a:t>
            </a:r>
            <a:endParaRPr lang="en-US" sz="550" dirty="0"/>
          </a:p>
        </p:txBody>
      </p:sp>
      <p:sp>
        <p:nvSpPr>
          <p:cNvPr id="51" name="Shape 49"/>
          <p:cNvSpPr/>
          <p:nvPr/>
        </p:nvSpPr>
        <p:spPr>
          <a:xfrm>
            <a:off x="4892040" y="4083710"/>
            <a:ext cx="3840480" cy="38084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28616" y="4191838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550" dirty="0"/>
          </a:p>
        </p:txBody>
      </p:sp>
      <p:sp>
        <p:nvSpPr>
          <p:cNvPr id="53" name="Shape 51"/>
          <p:cNvSpPr/>
          <p:nvPr/>
        </p:nvSpPr>
        <p:spPr>
          <a:xfrm>
            <a:off x="4892040" y="4464558"/>
            <a:ext cx="3840480" cy="33604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28616" y="4550283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</a:t>
            </a:r>
            <a:endParaRPr lang="en-US" sz="550" dirty="0"/>
          </a:p>
        </p:txBody>
      </p:sp>
      <p:sp>
        <p:nvSpPr>
          <p:cNvPr id="55" name="Shape 5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48966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1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CHA SAN CHEN  —  Website Wireframes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6858000" y="48966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 of 11  —  Privacy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 Cha San Chen — Website Wireframes</dc:title>
  <dc:subject>PptxGenJS Presentation</dc:subject>
  <dc:creator>PptxGenJS</dc:creator>
  <cp:lastModifiedBy>PptxGenJS</cp:lastModifiedBy>
  <cp:revision>1</cp:revision>
  <dcterms:created xsi:type="dcterms:W3CDTF">2026-06-10T21:45:04Z</dcterms:created>
  <dcterms:modified xsi:type="dcterms:W3CDTF">2026-06-10T21:45:04Z</dcterms:modified>
</cp:coreProperties>
</file>